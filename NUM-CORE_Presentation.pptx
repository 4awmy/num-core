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274320"/>
            <a:ext cx="2743200" cy="2743200"/>
          </a:xfrm>
          <a:prstGeom prst="ellipse">
            <a:avLst/>
          </a:prstGeom>
          <a:solidFill>
            <a:srgbClr val="00B4D8">
              <a:alpha val="2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NUM-CORE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Numerical Methods Solver Suite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Mathematical Foundations · Architecture · Data Flow · Features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41148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CCS3002 — Numerical Methods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Alaa Mahmoud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6863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May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Agenda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54864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502920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822960"/>
            <a:ext cx="3520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Design Principles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28800"/>
            <a:ext cx="54864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828800"/>
            <a:ext cx="502920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2880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1828800"/>
            <a:ext cx="3520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&amp; Solver Protocol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34640"/>
            <a:ext cx="54864" cy="8046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34640"/>
            <a:ext cx="502920" cy="8046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3464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834640"/>
            <a:ext cx="3520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— Root Finding (4 Methods)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840480"/>
            <a:ext cx="54864" cy="8046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840480"/>
            <a:ext cx="502920" cy="8046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84048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840480"/>
            <a:ext cx="3520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— Linear Systems (Jacobi &amp; Gauss-Seidel)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846320" y="82296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822960"/>
            <a:ext cx="54864" cy="8046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822960"/>
            <a:ext cx="502920" cy="8046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82296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822960"/>
            <a:ext cx="3520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— Interpolation (5 Methods)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846320" y="182880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1828800"/>
            <a:ext cx="54864" cy="8046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1828800"/>
            <a:ext cx="502920" cy="8046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82880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1828800"/>
            <a:ext cx="3520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— Numerical Integration (4 Methods)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846320" y="283464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2834640"/>
            <a:ext cx="54864" cy="8046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2834640"/>
            <a:ext cx="502920" cy="8046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283464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40680" y="2834640"/>
            <a:ext cx="3520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Solver &amp; Auto-Comparison Engine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846320" y="384048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3840480"/>
            <a:ext cx="54864" cy="8046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46320" y="3840480"/>
            <a:ext cx="502920" cy="8046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384048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40680" y="3840480"/>
            <a:ext cx="3520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Features &amp; Visual Design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System Architecture — Engine-First Design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822960"/>
          </a:xfrm>
          <a:prstGeom prst="rect">
            <a:avLst/>
          </a:prstGeom>
          <a:solidFill>
            <a:srgbClr val="FF6B35">
              <a:alpha val="1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41248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  (Rich TUI)    |    GUI  (CustomTkinter)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0" y="1645920"/>
            <a:ext cx="0" cy="13716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874520"/>
            <a:ext cx="8412480" cy="822960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92808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numcore_cli  ·  numcore_gui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258568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formatter.py  ·  dashboard.py  ·  pages  ·  visualization.py  ·  equation_input.py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2697480"/>
            <a:ext cx="0" cy="13716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926080"/>
            <a:ext cx="8412480" cy="822960"/>
          </a:xfrm>
          <a:prstGeom prst="rect">
            <a:avLst/>
          </a:prstGeom>
          <a:solidFill>
            <a:srgbClr val="06D6A0">
              <a:alpha val="1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944368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numcore_engine  (Core — No UI)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3310128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interfaces.py  ·  models.py  ·  parser.py  ·  comparison.py  ·  solvers/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886200"/>
            <a:ext cx="2606040" cy="804672"/>
          </a:xfrm>
          <a:prstGeom prst="rect">
            <a:avLst/>
          </a:prstGeom>
          <a:solidFill>
            <a:srgbClr val="0E20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38862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root_finder.py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17880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Bisection · Secant · NR · SI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063240" y="3886200"/>
            <a:ext cx="2606040" cy="804672"/>
          </a:xfrm>
          <a:prstGeom prst="rect">
            <a:avLst/>
          </a:prstGeom>
          <a:solidFill>
            <a:srgbClr val="0E20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154680" y="38862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network_solver.py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54680" y="417880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Jacobi · Gauss-Seidel + SDD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715000" y="3886200"/>
            <a:ext cx="2606040" cy="804672"/>
          </a:xfrm>
          <a:prstGeom prst="rect">
            <a:avLst/>
          </a:prstGeom>
          <a:solidFill>
            <a:srgbClr val="0E20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6440" y="38862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calculus_engine.py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06440" y="417880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Lagrange · Newton Interp · Integration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Constitution Principle: Engine has ZERO UI imports. All UI layers consume the engine via the Solver Protocol.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 Flow — From Input to Result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298448" cy="822960"/>
          </a:xfrm>
          <a:prstGeom prst="rect">
            <a:avLst/>
          </a:prstGeom>
          <a:solidFill>
            <a:srgbClr val="FF6B35">
              <a:alpha val="18000"/>
            </a:srgbClr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078992"/>
            <a:ext cx="292608" cy="2926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078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399032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4320" y="1719072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 string, params, bounds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508760" y="1783080"/>
            <a:ext cx="2011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09928" y="1371600"/>
            <a:ext cx="1298448" cy="822960"/>
          </a:xfrm>
          <a:prstGeom prst="rect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12848" y="1078992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12848" y="1078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09928" y="1399032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SymPy Parser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09928" y="1719072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^ → **   |   str → callable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944368" y="1783080"/>
            <a:ext cx="2011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45536" y="1371600"/>
            <a:ext cx="1298448" cy="822960"/>
          </a:xfrm>
          <a:prstGeom prst="rect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48456" y="1078992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48456" y="1078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45536" y="1399032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145536" y="1719072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validate_input(**kwargs) → bool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9976" y="1783080"/>
            <a:ext cx="2011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81144" y="1371600"/>
            <a:ext cx="1298448" cy="822960"/>
          </a:xfrm>
          <a:prstGeom prst="rect">
            <a:avLst/>
          </a:prstGeom>
          <a:solidFill>
            <a:srgbClr val="06D6A0">
              <a:alpha val="18000"/>
            </a:srgbClr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84064" y="1078992"/>
            <a:ext cx="292608" cy="29260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84064" y="1078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81144" y="1399032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Engine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81144" y="1719072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solve(**kwargs) → SimulationData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815584" y="1783080"/>
            <a:ext cx="2011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16752" y="1371600"/>
            <a:ext cx="1298448" cy="822960"/>
          </a:xfrm>
          <a:prstGeom prst="rect">
            <a:avLst/>
          </a:prstGeom>
          <a:solidFill>
            <a:srgbClr val="06D6A0">
              <a:alpha val="18000"/>
            </a:srgbClr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19672" y="1078992"/>
            <a:ext cx="292608" cy="29260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19672" y="1078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16752" y="1399032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Accumulation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016752" y="1719072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get_steps() → List[NumericalStep]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251192" y="1783080"/>
            <a:ext cx="2011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52360" y="1371600"/>
            <a:ext cx="1298448" cy="822960"/>
          </a:xfrm>
          <a:prstGeom prst="rect">
            <a:avLst/>
          </a:prstGeom>
          <a:solidFill>
            <a:srgbClr val="FF6B35">
              <a:alpha val="18000"/>
            </a:srgbClr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955280" y="1078992"/>
            <a:ext cx="292608" cy="2926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55280" y="1078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52360" y="1399032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Formatter / Plotter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452360" y="1719072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table  or  Matplotlib canvas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65760" y="24231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Key Data Models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65760" y="2834640"/>
            <a:ext cx="2697480" cy="1005840"/>
          </a:xfrm>
          <a:prstGeom prst="rect">
            <a:avLst/>
          </a:prstGeom>
          <a:solidFill>
            <a:srgbClr val="0E20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75488" y="2862072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NumericalStep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5488" y="3200400"/>
            <a:ext cx="24780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step_number, x_val, fx_val, error, metadata: dict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00400" y="2834640"/>
            <a:ext cx="2697480" cy="1005840"/>
          </a:xfrm>
          <a:prstGeom prst="rect">
            <a:avLst/>
          </a:prstGeom>
          <a:solidFill>
            <a:srgbClr val="0E20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310128" y="2862072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SimulationData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310128" y="3200400"/>
            <a:ext cx="24780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solution, steps: List[NumericalStep], converged, iterations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35040" y="2834640"/>
            <a:ext cx="2697480" cy="1005840"/>
          </a:xfrm>
          <a:prstGeom prst="rect">
            <a:avLst/>
          </a:prstGeom>
          <a:solidFill>
            <a:srgbClr val="0E20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144768" y="2862072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ComparisonResult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144768" y="3200400"/>
            <a:ext cx="24780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results: List[SimulationData], best_method: str, input_params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65760" y="3977640"/>
            <a:ext cx="84124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Solver Protocol (typing.Protocol — runtime_checkable): solve(**kwargs) | get_steps() | validate_input(**kwargs)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0"/>
            <a:ext cx="128016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463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CH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Finding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Bisection  ·  Secant  ·  Newton-Raphson  ·  Simple Iteration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Bisection Method — Bracket Narrowing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solidFill>
            <a:srgbClr val="FF6B35">
              <a:alpha val="1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</a:rPr>
              <a:t>Pre-condition: f(a) · f(b) &lt; 0  →  a sign change guarantees at least one root in [a, b]  (Intermediate Value Theorem)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Algorithm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Compute midpoint:  c = (a + b) / 2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03911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Evaluate f(c)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2386584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3a. If f(a) · f(c) &lt; 0  →  root in [a, c]:  set b = c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273405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3b. If f(b) · f(c) &lt; 0  →  root in [c, b]:  set a = c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308152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Repeat until |b − a| / 2 ≤ ε  or  max iterations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0" y="1298448"/>
            <a:ext cx="4206240" cy="548640"/>
          </a:xfrm>
          <a:prstGeom prst="rect">
            <a:avLst/>
          </a:prstGeom>
          <a:solidFill>
            <a:srgbClr val="0E20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45152" y="1298448"/>
            <a:ext cx="4059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Error_n  =  |b − a| / 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2011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Lecturer Result Table Format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2377440"/>
            <a:ext cx="52578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2377440"/>
            <a:ext cx="525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97780" y="2377440"/>
            <a:ext cx="52578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7780" y="2377440"/>
            <a:ext cx="525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23560" y="2377440"/>
            <a:ext cx="52578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23560" y="2377440"/>
            <a:ext cx="525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49340" y="2377440"/>
            <a:ext cx="52578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9340" y="2377440"/>
            <a:ext cx="525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0" y="2377440"/>
            <a:ext cx="52578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2377440"/>
            <a:ext cx="525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f(a)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00900" y="2377440"/>
            <a:ext cx="52578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00900" y="2377440"/>
            <a:ext cx="525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f(b)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726680" y="2377440"/>
            <a:ext cx="52578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26680" y="2377440"/>
            <a:ext cx="525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f(c)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52460" y="2377440"/>
            <a:ext cx="52578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52460" y="2377440"/>
            <a:ext cx="525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Error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2724912"/>
            <a:ext cx="5257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2724912"/>
            <a:ext cx="5257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1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97780" y="2724912"/>
            <a:ext cx="5257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97780" y="2724912"/>
            <a:ext cx="5257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1.0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623560" y="2724912"/>
            <a:ext cx="5257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23560" y="2724912"/>
            <a:ext cx="5257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2.0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49340" y="2724912"/>
            <a:ext cx="5257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49340" y="2724912"/>
            <a:ext cx="5257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1.5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675120" y="2724912"/>
            <a:ext cx="5257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75120" y="2724912"/>
            <a:ext cx="5257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−0.65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200900" y="2724912"/>
            <a:ext cx="5257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00900" y="2724912"/>
            <a:ext cx="5257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1.1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726680" y="2724912"/>
            <a:ext cx="5257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26680" y="2724912"/>
            <a:ext cx="5257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0.12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252460" y="2724912"/>
            <a:ext cx="5257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52460" y="2724912"/>
            <a:ext cx="5257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|b−a|/2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0" y="3246120"/>
            <a:ext cx="4206240" cy="502920"/>
          </a:xfrm>
          <a:prstGeom prst="rect">
            <a:avLst/>
          </a:prstGeom>
          <a:solidFill>
            <a:srgbClr val="0E20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645152" y="3246120"/>
            <a:ext cx="4059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iterations  n ≥  log₂((b−a)/ε)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65760" y="3474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Properties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57200" y="3858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Convergence: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Linear  (order 1)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57200" y="415137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Guaranteed?: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Yes — always converges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57200" y="444398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Speed: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Slow (~23 iterations for ε=10⁻⁶)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57200" y="473659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Requires: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Bracket [a, b] with sign change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Newton-Raphson Method — Tangent Line Iteration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Derivation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The tangent line to f at xₙ has slope f′(xₙ). Setting the tangent to zero yields the next iterate: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5029200" cy="548640"/>
          </a:xfrm>
          <a:prstGeom prst="rect">
            <a:avLst/>
          </a:prstGeom>
          <a:solidFill>
            <a:srgbClr val="0E20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8912" y="1572768"/>
            <a:ext cx="4882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xₙ₊₁  =  xₙ  −  f(xₙ) / f′(xₙ)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577840" y="1572768"/>
            <a:ext cx="3200400" cy="548640"/>
          </a:xfrm>
          <a:prstGeom prst="rect">
            <a:avLst/>
          </a:prstGeom>
          <a:solidFill>
            <a:srgbClr val="06D6A0">
              <a:alpha val="1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157276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Optimal x₀: choose such that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f(x₀) · f″(x₀) &gt; 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2860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Result Table Columns  (Lecturer Format)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651760"/>
            <a:ext cx="457200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651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2651760"/>
            <a:ext cx="1097280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651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xₙ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20240" y="2651760"/>
            <a:ext cx="1371600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0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f(xₙ)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2651760"/>
            <a:ext cx="1371600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f′(xₙ)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651760"/>
            <a:ext cx="1097280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651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xₙ₊₁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60720" y="2651760"/>
            <a:ext cx="2103120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2651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Error = |xₙ₊₁ − xₙ|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127248"/>
            <a:ext cx="8412480" cy="411480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12724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</a:rPr>
              <a:t>f′(x) is computed automatically via SymPy symbolic differentiation (no numerical finite difference).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3657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Properties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404164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Convergence Order: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Quadratic (order 2) — errors square each step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404164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Speed: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Very fast near root (~4–6 iterations typical)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38912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Failure modes: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f′(xₙ) = 0  →  division by zero; poor x₀ may diverge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438912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Divergence detection: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5 consecutive growing errors → metadata["diverged"] = True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Secant Method  &amp;  Simple Iteration (Fixed-Point)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Secant Method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20700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Approximates f′ using two previous points — no symbolic derivative needed: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673352"/>
            <a:ext cx="4114800" cy="640080"/>
          </a:xfrm>
          <a:prstGeom prst="rect">
            <a:avLst/>
          </a:prstGeom>
          <a:solidFill>
            <a:srgbClr val="0E20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8912" y="1673352"/>
            <a:ext cx="3968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xₙ₊₁ = xₙ − f(xₙ)·(xₙ − xₙ₋₁)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─────────────────────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f(xₙ) − f(xₙ₋₁)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Requires two initial points: x₀ and x₁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(No bracket sign-change required)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035808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Convergence: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Superlinear (order ≈ 1.618, golden ratio)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38328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Cost: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1 function evaluation per step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73075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Vs Newton: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Slower but no derivative needed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777240"/>
            <a:ext cx="0" cy="411480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754880" y="8229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Simple Iteration (Fixed-Point)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54880" y="12070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Rearrange f(x) = 0 into x = g(x), iterate: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54880" y="1609344"/>
            <a:ext cx="4023360" cy="502920"/>
          </a:xfrm>
          <a:prstGeom prst="rect">
            <a:avLst/>
          </a:prstGeom>
          <a:solidFill>
            <a:srgbClr val="0E20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28032" y="1609344"/>
            <a:ext cx="3877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xₙ₊₁  =  g(xₙ)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754880" y="2240280"/>
            <a:ext cx="4023360" cy="822960"/>
          </a:xfrm>
          <a:prstGeom prst="rect">
            <a:avLst/>
          </a:prstGeom>
          <a:solidFill>
            <a:srgbClr val="FF6B35">
              <a:alpha val="12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2677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⚠  Convergence Check  (Displayed in results header)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46320" y="2560320"/>
            <a:ext cx="3749040" cy="411480"/>
          </a:xfrm>
          <a:prstGeom prst="rect">
            <a:avLst/>
          </a:prstGeom>
          <a:solidFill>
            <a:srgbClr val="0E20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19472" y="2560320"/>
            <a:ext cx="3602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|g′(x₀)|  &lt;  1   →  Converges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312724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If |g′(x₀)| ≥ 1 a WARNING is displayed but the solver still runs.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The condition is evaluated via SymPy at the initial guess.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379476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Order: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Linear (order 1)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414223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Auto-derive g(x):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Smart Solver attempts symbolic rearrangement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0"/>
            <a:ext cx="128016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463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CH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Systems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Jacobi  ·  Gauss-Seidel  ·  Strict Diagonal Dominance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Iterative Linear Solvers — Jacobi &amp; Gauss-Seidel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solidFill>
            <a:srgbClr val="06D6A0">
              <a:alpha val="1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</a:rPr>
              <a:t>Step 0 — Strictly Diagonal Dominant (SDD) Check:  |a_ii|  &gt;  Σⱼ≠ᵢ |a_ij|  for every row i  →  Pass / Fail per row (auto-reorder if possible)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Jacobi  (Simultaneous Update)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All unknowns are updated using values from the previous iteration only: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176272"/>
            <a:ext cx="4114800" cy="640080"/>
          </a:xfrm>
          <a:prstGeom prst="rect">
            <a:avLst/>
          </a:prstGeom>
          <a:solidFill>
            <a:srgbClr val="0E20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8912" y="2176272"/>
            <a:ext cx="3968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xᵢ⁽ᵏ⁺¹⁾ = (1/aᵢᵢ) · [bᵢ − Σⱼ≠ᵢ aᵢⱼ xⱼ⁽ᵏ⁾]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90779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All n new values are computed before any update is applied.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Label: "simultaneous"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" y="3520440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Convergence: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Guaranteed if SDD holds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840480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Parallelizable: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Yes — all updates independent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4160520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Speed: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Slower (more iterations than GS)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1371600"/>
            <a:ext cx="0" cy="365760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754880" y="13716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Gauss-Seidel  (Successive Update)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175564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Each unknown is updated immediately; subsequent unknowns use the latest values: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2176272"/>
            <a:ext cx="4023360" cy="640080"/>
          </a:xfrm>
          <a:prstGeom prst="rect">
            <a:avLst/>
          </a:prstGeom>
          <a:solidFill>
            <a:srgbClr val="0E20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28032" y="2176272"/>
            <a:ext cx="3877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xᵢ⁽ᵏ⁺¹⁾ = (1/aᵢᵢ) · [bᵢ − Σⱼ&lt;ᵢ aᵢⱼ xⱼ⁽ᵏ⁺¹⁾ − Σⱼ&gt;ᵢ aᵢⱼ xⱼ⁽ᵏ⁾]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90779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Uses newest x values as soon as available.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Label: "successive"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54880" y="3520440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Convergence: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Faster than Jacobi (≈ 2× fewer iterations)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3840480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Error metric: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max|xᵢ⁽ᵏ⁺¹⁾ − xᵢ⁽ᵏ⁾| &lt; ε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4160520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Memory: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In-place update — single solution vector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0"/>
            <a:ext cx="128016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463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CH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Lagrange  ·  Newton Forward/Backward Difference  ·  Newton Divided Difference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Lagrange Interpolation  &amp;  Newton Forward Difference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Lagrange Interpolation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Builds the polynomial as a weighted sum of basis polynomials Lᵢ(x):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591056"/>
            <a:ext cx="4114800" cy="502920"/>
          </a:xfrm>
          <a:prstGeom prst="rect">
            <a:avLst/>
          </a:prstGeom>
          <a:solidFill>
            <a:srgbClr val="0E20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8912" y="1591056"/>
            <a:ext cx="3968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P(x)  =  Σᵢ  yᵢ · Lᵢ(x)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176272"/>
            <a:ext cx="4114800" cy="548640"/>
          </a:xfrm>
          <a:prstGeom prst="rect">
            <a:avLst/>
          </a:prstGeom>
          <a:solidFill>
            <a:srgbClr val="0E20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8912" y="2176272"/>
            <a:ext cx="3968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Lᵢ(x) = Πⱼ≠ᵢ (x − xⱼ) / (xᵢ − xⱼ)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81635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Each Lᵢ equals 1 at xᵢ and 0 at all other nodes.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No divided-difference table required.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" y="3383280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Degree: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n−1 for n data points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703320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Node spacing: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Works for unequal spacing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4023360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Drawback: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Adding a point requires full recomputation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777240"/>
            <a:ext cx="0" cy="411480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754880" y="8229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Newton Forward Difference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11887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Uses a forward difference table with equal-spacing h. Let s = (x − x₀)/h: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1591056"/>
            <a:ext cx="4023360" cy="640080"/>
          </a:xfrm>
          <a:prstGeom prst="rect">
            <a:avLst/>
          </a:prstGeom>
          <a:solidFill>
            <a:srgbClr val="0E20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28032" y="1591056"/>
            <a:ext cx="3877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P(x) = y₀ + s·Δy₀ + s(s−1)/2!·Δ²y₀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 s(s−1)(s−2)/3!·Δ³y₀ + …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34086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Forward Difference Operator: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706624"/>
            <a:ext cx="4023360" cy="411480"/>
          </a:xfrm>
          <a:prstGeom prst="rect">
            <a:avLst/>
          </a:prstGeom>
          <a:solidFill>
            <a:srgbClr val="0E20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28032" y="2706624"/>
            <a:ext cx="3877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Δyᵢ = yᵢ₊₁ − yᵢ    Δ²yᵢ = Δyᵢ₊₁ − Δyᵢ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3246120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Best for: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Interpolating near the beginning of the table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3566160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Requires: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Equal spacing h between x-nodes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3886200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Table structure: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Upper-left triangular difference table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Newton Divided Difference  &amp;  Backward Difference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Newton Forward Divided Difference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16152"/>
            <a:ext cx="4114800" cy="502920"/>
          </a:xfrm>
          <a:prstGeom prst="rect">
            <a:avLst/>
          </a:prstGeom>
          <a:solidFill>
            <a:srgbClr val="0E20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8912" y="1216152"/>
            <a:ext cx="3968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P(x) = f[x₀] + (x−x₀)f[x₀,x₁] + (x−x₀)(x−x₁)f[x₀,x₁,x₂] + …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8013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Divided differences are defined recursively: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167128"/>
            <a:ext cx="4114800" cy="548640"/>
          </a:xfrm>
          <a:prstGeom prst="rect">
            <a:avLst/>
          </a:prstGeom>
          <a:solidFill>
            <a:srgbClr val="0E20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8912" y="2167128"/>
            <a:ext cx="3968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f[xᵢ,…,xᵢ₊ₖ] = (f[xᵢ₊₁,…,xᵢ₊ₖ] − f[xᵢ,…,xᵢ₊ₖ₋₁]) / (xᵢ₊ₖ − xᵢ)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834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Triangular Result Table (Lecturer Format)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200400"/>
            <a:ext cx="82296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2004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x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188720" y="3200400"/>
            <a:ext cx="82296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2004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f[·]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011680" y="3200400"/>
            <a:ext cx="82296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32004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f[·,·]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834640" y="3200400"/>
            <a:ext cx="82296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32004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f[·,·,·]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0" y="3200400"/>
            <a:ext cx="82296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32004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f[·,·,·,·]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520440"/>
            <a:ext cx="822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520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x₀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188720" y="3520440"/>
            <a:ext cx="822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8720" y="3520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y₀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011680" y="3520440"/>
            <a:ext cx="82296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34640" y="3520440"/>
            <a:ext cx="82296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0" y="3520440"/>
            <a:ext cx="82296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794760"/>
            <a:ext cx="822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7947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x₁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188720" y="3794760"/>
            <a:ext cx="822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0" y="37947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y₁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011680" y="3794760"/>
            <a:ext cx="822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11680" y="37947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f[x₀,x₁]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834640" y="3794760"/>
            <a:ext cx="82296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0" y="3794760"/>
            <a:ext cx="82296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4069080"/>
            <a:ext cx="822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69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x₂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188720" y="4069080"/>
            <a:ext cx="822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88720" y="4069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y₂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011680" y="4069080"/>
            <a:ext cx="822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11680" y="4069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f[x₁,x₂]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834640" y="4069080"/>
            <a:ext cx="822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34640" y="4069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f[x₀,x₁,x₂]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657600" y="4069080"/>
            <a:ext cx="82296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" y="4343400"/>
            <a:ext cx="822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3434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x₃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188720" y="4343400"/>
            <a:ext cx="822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88720" y="43434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y₃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011680" y="4343400"/>
            <a:ext cx="822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11680" y="43434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f[x₂,x₃]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834640" y="4343400"/>
            <a:ext cx="822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34640" y="43434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f[x₁,x₂,x₃]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657600" y="4343400"/>
            <a:ext cx="822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0" y="43434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f[x₀,x₁,x₂,x₃]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617720" y="777240"/>
            <a:ext cx="0" cy="411480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56" name="Text 54"/>
          <p:cNvSpPr/>
          <p:nvPr/>
        </p:nvSpPr>
        <p:spPr>
          <a:xfrm>
            <a:off x="4754880" y="8229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Newton Backward Difference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4754880" y="11887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Uses backward differences ∇. Let s = (x − xₙ)/h: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4754880" y="1591056"/>
            <a:ext cx="4023360" cy="640080"/>
          </a:xfrm>
          <a:prstGeom prst="rect">
            <a:avLst/>
          </a:prstGeom>
          <a:solidFill>
            <a:srgbClr val="0E20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4828032" y="1591056"/>
            <a:ext cx="3877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P(x) = yₙ + s·∇yₙ + s(s+1)/2!·∇²yₙ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 s(s+1)(s+2)/3!·∇³yₙ + …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754880" y="23317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Backward Difference Operator: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4754880" y="2697480"/>
            <a:ext cx="4023360" cy="411480"/>
          </a:xfrm>
          <a:prstGeom prst="rect">
            <a:avLst/>
          </a:prstGeom>
          <a:solidFill>
            <a:srgbClr val="0E20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4828032" y="2697480"/>
            <a:ext cx="3877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∇yᵢ = yᵢ − yᵢ₋₁    ∇²yᵢ = ∇yᵢ − ∇yᵢ₋₁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754880" y="32461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Best for: Interpolating near the END of the table.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Uses lower-right triangular difference table.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4754880" y="38404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Method Summary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4754880" y="4206240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Lagrange  ·  Unequal spacing  ·  Any position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4754880" y="4370832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Newton Fwd Difference  ·  Equal spacing  ·  Near beginning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4754880" y="453542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Newton Bwd Difference  ·  Equal spacing  ·  Near end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4754880" y="4700016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Newton Fwd Div Diff  ·  Unequal spacing  ·  Near beginning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4754880" y="486460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Newton Bwd Div Diff  ·  Unequal spacing  ·  Near end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0"/>
            <a:ext cx="128016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463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CH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Integration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Composite Trapezoidal  ·  Midpoint  ·  Simpson's 1/3  ·  Simpson's 3/8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Composite Integration Rules — Full Derivations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 setup:  h = (b − a) / n    xᵢ = a + i·h    yᵢ = f(xᵢ)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61872"/>
            <a:ext cx="64008" cy="8229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8930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Composite Trapezoidal Rule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0" y="1298448"/>
            <a:ext cx="1828800" cy="256032"/>
          </a:xfrm>
          <a:prstGeom prst="rect">
            <a:avLst/>
          </a:prstGeom>
          <a:solidFill>
            <a:srgbClr val="FF6B35">
              <a:alpha val="18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1298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Any 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0352" y="164592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≈ h/2 · [y₀ + 2(y₁ + y₂ + … + yₙ₋₁) + yₙ]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0" y="1298448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Error ∝ h² · (b−a) · f″(ξ) / 12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2176272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176272"/>
            <a:ext cx="64008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20370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Composite Midpoint Rule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0" y="2212848"/>
            <a:ext cx="1828800" cy="256032"/>
          </a:xfrm>
          <a:prstGeom prst="rect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2212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Any 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0352" y="256032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≈ h · [f(x₁/₂) + f(x₃/₂) + … + f(xₙ₋₁/₂)]   where  xᵢ₊₁/₂ = a + (i+0.5)h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98080" y="2212848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Error ∝ h² · (b−a) · f″(ξ) / 24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090672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090672"/>
            <a:ext cx="64008" cy="8229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11810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Composite Simpson's 1/3 Rule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0" y="3127248"/>
            <a:ext cx="1828800" cy="256032"/>
          </a:xfrm>
          <a:prstGeom prst="rect">
            <a:avLst/>
          </a:prstGeom>
          <a:solidFill>
            <a:srgbClr val="06D6A0">
              <a:alpha val="18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31272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n must be EVEN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30352" y="347472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≈ h/3 · [y₀ + 4y₁ + 2y₂ + 4y₃ + … + 4yₙ₋₁ + yₙ]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498080" y="3127248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Error ∝ h⁴ · (b−a) · f⁽⁴⁾(ξ) / 180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4005072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4005072"/>
            <a:ext cx="64008" cy="822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403250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Composite Simpson's 3/8 Rule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657600" y="4041648"/>
            <a:ext cx="1828800" cy="256032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0" y="4041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n must be multiple of 3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30352" y="438912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≈ 3h/8 · [y₀ + 3y₁ + 3y₂ + 2y₃ + 3y₄ + … + 3yₙ₋₁ + yₙ]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498080" y="4041648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Error ∝ h⁴ · (b−a) · f⁽⁴⁾(ξ) / 80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Integration — Lecturer Result Display Format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All four integration methods follow this exact 4-step display format required by the course: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420624" cy="42062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3441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Step Size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68249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 h = (b − a) / n  =  (value)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59152"/>
            <a:ext cx="420624" cy="42062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359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240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x/y Value Table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5786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table:  x₀, x₁, …, xₙ  with  y₀ = f(x₀), …, yₙ = f(xₙ)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090672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255264"/>
            <a:ext cx="420624" cy="42062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55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1363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Weighted-Sum Formula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474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out the formula expanded with actual numeric values (not symbolic)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986784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151376"/>
            <a:ext cx="420624" cy="42062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151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403250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Final Result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437083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 I ≈ [computed value]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solidFill>
            <a:srgbClr val="FF6B35">
              <a:alpha val="18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Simpson's 1/3: inline error if n is odd  ·  Simpson's 3/8: inline error if n mod 3 ≠ 0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Smart Solver — Auto-Comparison Engine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One-click button triggers ComparisonRunner across all applicable methods in the chapter: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0" y="1261872"/>
            <a:ext cx="1450848" cy="475488"/>
          </a:xfrm>
          <a:prstGeom prst="rect">
            <a:avLst/>
          </a:prstGeom>
          <a:solidFill>
            <a:srgbClr val="0E20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0" y="1261872"/>
            <a:ext cx="1450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User Input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450848" y="1499616"/>
            <a:ext cx="73152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24000" y="1261872"/>
            <a:ext cx="1450848" cy="475488"/>
          </a:xfrm>
          <a:prstGeom prst="rect">
            <a:avLst/>
          </a:prstGeom>
          <a:solidFill>
            <a:srgbClr val="0E20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24000" y="1261872"/>
            <a:ext cx="1450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Smart Solve →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74848" y="1499616"/>
            <a:ext cx="73152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48000" y="1261872"/>
            <a:ext cx="1450848" cy="475488"/>
          </a:xfrm>
          <a:prstGeom prst="rect">
            <a:avLst/>
          </a:prstGeom>
          <a:solidFill>
            <a:srgbClr val="0E20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48000" y="1261872"/>
            <a:ext cx="1450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ComparisonRunner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98848" y="1499616"/>
            <a:ext cx="73152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261872"/>
            <a:ext cx="1450848" cy="475488"/>
          </a:xfrm>
          <a:prstGeom prst="rect">
            <a:avLst/>
          </a:prstGeom>
          <a:solidFill>
            <a:srgbClr val="0E20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1261872"/>
            <a:ext cx="1450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Parallel Execution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22848" y="1499616"/>
            <a:ext cx="73152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96000" y="1261872"/>
            <a:ext cx="1450848" cy="47548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96000" y="1261872"/>
            <a:ext cx="1450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ComparisonResult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546848" y="1499616"/>
            <a:ext cx="73152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20000" y="1261872"/>
            <a:ext cx="1450848" cy="475488"/>
          </a:xfrm>
          <a:prstGeom prst="rect">
            <a:avLst/>
          </a:prstGeom>
          <a:solidFill>
            <a:srgbClr val="0E20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620000" y="1261872"/>
            <a:ext cx="1450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Recommendation Panel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Recommendation Panel Output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2286000"/>
            <a:ext cx="4480560" cy="2468880"/>
          </a:xfrm>
          <a:prstGeom prst="rect">
            <a:avLst/>
          </a:prstGeom>
          <a:solidFill>
            <a:srgbClr val="0E2040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286000"/>
            <a:ext cx="4480560" cy="3840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28600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✓  Recommended: Newton-Raphson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" y="2724912"/>
            <a:ext cx="137160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724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Method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783080" y="2724912"/>
            <a:ext cx="54864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83080" y="27249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Iters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331720" y="2724912"/>
            <a:ext cx="77724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31720" y="27249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Error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108960" y="2724912"/>
            <a:ext cx="100584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0" y="27249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Status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14800" y="2724912"/>
            <a:ext cx="50292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0" y="27249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Time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11480" y="3017520"/>
            <a:ext cx="1371600" cy="384048"/>
          </a:xfrm>
          <a:prstGeom prst="rect">
            <a:avLst/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0175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Newton-Raphson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783080" y="3017520"/>
            <a:ext cx="548640" cy="384048"/>
          </a:xfrm>
          <a:prstGeom prst="rect">
            <a:avLst/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83080" y="30175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4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331720" y="3017520"/>
            <a:ext cx="777240" cy="384048"/>
          </a:xfrm>
          <a:prstGeom prst="rect">
            <a:avLst/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331720" y="301752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1.2e-8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108960" y="3017520"/>
            <a:ext cx="1005840" cy="384048"/>
          </a:xfrm>
          <a:prstGeom prst="rect">
            <a:avLst/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08960" y="30175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Converged ✓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0" y="3017520"/>
            <a:ext cx="502920" cy="384048"/>
          </a:xfrm>
          <a:prstGeom prst="rect">
            <a:avLst/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0" y="30175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3ms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11480" y="3429000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429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Secant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783080" y="3429000"/>
            <a:ext cx="548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83080" y="34290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6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331720" y="3429000"/>
            <a:ext cx="777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331720" y="34290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4.1e-7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108960" y="3429000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108960" y="34290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Converged ✓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114800" y="3429000"/>
            <a:ext cx="502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14800" y="34290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2ms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1480" y="3840480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480" y="38404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Bisection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783080" y="3840480"/>
            <a:ext cx="548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783080" y="38404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23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331720" y="3840480"/>
            <a:ext cx="777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331720" y="38404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9.9e-7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108960" y="3840480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108960" y="38404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Converged ✓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114800" y="3840480"/>
            <a:ext cx="502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114800" y="38404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8ms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11480" y="4251960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11480" y="4251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Simple Iter.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1783080" y="4251960"/>
            <a:ext cx="548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783080" y="42519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—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331720" y="4251960"/>
            <a:ext cx="777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331720" y="425196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—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108960" y="4251960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108960" y="42519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Excluded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0" y="4251960"/>
            <a:ext cx="502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114800" y="42519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—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5029200" y="1920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Smart Explanation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5029200" y="2286000"/>
            <a:ext cx="3749040" cy="1417320"/>
          </a:xfrm>
          <a:prstGeom prst="rect">
            <a:avLst/>
          </a:prstGeom>
          <a:solidFill>
            <a:srgbClr val="F0FDF4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5120640" y="2331720"/>
            <a:ext cx="3566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</a:rPr>
              <a:t>"Newton-Raphson converged in 4 iterations vs Bisection's 23. Recommended: fastest convergence for smooth, differentiable functions. Quadratic convergence means errors square at each step."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5029200" y="3840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All Methods Diverged → Diagnostic Panel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5029200" y="4187952"/>
            <a:ext cx="3749040" cy="777240"/>
          </a:xfrm>
          <a:prstGeom prst="rect">
            <a:avLst/>
          </a:prstGeom>
          <a:solidFill>
            <a:srgbClr val="FFF7ED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5120640" y="42062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Bisection: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f(a)·f(b) &gt; 0 — try wider interval
</a:t>
            </a:r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Newton-Raphson: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f′(x₀) ≈ 0 — try a different x₀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 Features — Equation Input, Plots &amp; Dark Theme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4297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04672"/>
            <a:ext cx="64008" cy="1463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89611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Smart Equation Input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28016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x^2 + sin(x) in plain text → live MathText preview renders in &lt; 300ms. Supports sin, cos, tan, exp, ln, sqrt, π, e. Both ^ and ** notation accepted.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804672"/>
            <a:ext cx="4297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804672"/>
            <a:ext cx="64008" cy="1463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10912" y="89611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True Black Theme  (#000000)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10912" y="128016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window backgrounds, sidebars, panels, and plot canvases render as pure black. Accent colours (cyan, orange) provide ≥ 4.5:1 contrast. OLED-friendly.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4297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468880"/>
            <a:ext cx="64008" cy="14630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5603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Method-Specific Interactive Plots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" y="2944368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Bisection: bracket narrowing per iteration. Newton-Raphson: tangent lines at each step. Integration: shaded area + annotated value. All plots: zoom &amp; pan toolbar.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468880"/>
            <a:ext cx="4297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468880"/>
            <a:ext cx="64008" cy="14630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10912" y="25603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Lecturer-Format Result Tables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10912" y="2944368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column names &amp; formulas per method as required by Dr. Ahmed Yehia. Bisection: n|a|b|c|f(a)|f(b)|f(c)|Error. Newton-Raphson: xₙ|f(xₙ)|f′(xₙ)|xₙ₊₁|Error.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1148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Tech Stack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4480560"/>
            <a:ext cx="1170432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448056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Python 3.10+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600200" y="4480560"/>
            <a:ext cx="1170432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600200" y="448056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SymPy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834640" y="4480560"/>
            <a:ext cx="1170432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834640" y="448056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NumPy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069080" y="4480560"/>
            <a:ext cx="1170432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069080" y="448056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Matplotlib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03520" y="4480560"/>
            <a:ext cx="1170432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303520" y="448056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CustomTkinter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537960" y="4480560"/>
            <a:ext cx="1170432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37960" y="448056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Rich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772400" y="4480560"/>
            <a:ext cx="1170432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772400" y="448056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pytest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Testing, Quality &amp; Solver Compliance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64008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869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Unit Tests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618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tests/unit/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29000" y="96012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Per-solver correctness. Assert exact column keys &amp; error formulas. e.g. Bisection error == |b−a|/2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810512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10512"/>
            <a:ext cx="64008" cy="8229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74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Contract Tests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2494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tests/contract/test_solver_protocol.py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29000" y="1947672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Every solver is runtime_checkable against the Solver Protocol. Zero missing methods allowed.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798064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798064"/>
            <a:ext cx="64008" cy="8229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8620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Integration Tests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23697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tests/integration/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2935224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TUI→solver→output, GUI→solve→result panel, CSV export end-to-end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785616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785616"/>
            <a:ext cx="64008" cy="822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84962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Divergence Tests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4224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iterative solvers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29000" y="3922776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5 consecutive growing errors → metadata["diverged"]=True. Tested for all iterative methods.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5760" y="48006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Coverage target: ≥ 85% on numcore_engine  |  Run: uv run pytest --cov=src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36576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115568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numerical solvers across 4 chapters — full CCS3002 Week 1–10 scope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28216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28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700784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Engine-first architecture with typed Solver Protocol — zero UI logic in engine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313432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13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28600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SymPy-powered parsing: symbolic derivatives, convergence checks, g(x) derivation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898648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98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2871216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Solver auto-compares methods, recommends winner with plain-language rationale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483864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483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3456432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Lecturer-exact result tables: column names, error formulas, and display format validated by unit tests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069080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069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4041648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black #000000 theme with method-specific interactive plots (zoom, pan)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6863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NUM-CORE: Numerical Methods Solver Suite</dc:title>
  <dc:subject>PptxGenJS Presentation</dc:subject>
  <dc:creator>Omar</dc:creator>
  <cp:lastModifiedBy>Omar</cp:lastModifiedBy>
  <cp:revision>1</cp:revision>
  <dcterms:created xsi:type="dcterms:W3CDTF">2026-05-06T11:10:55Z</dcterms:created>
  <dcterms:modified xsi:type="dcterms:W3CDTF">2026-05-06T11:10:55Z</dcterms:modified>
</cp:coreProperties>
</file>